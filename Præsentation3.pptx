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8" r:id="rId1"/>
  </p:sldMasterIdLst>
  <p:notesMasterIdLst>
    <p:notesMasterId r:id="rId14"/>
  </p:notesMasterIdLst>
  <p:handoutMasterIdLst>
    <p:handoutMasterId r:id="rId15"/>
  </p:handoutMasterIdLst>
  <p:sldIdLst>
    <p:sldId id="441" r:id="rId2"/>
    <p:sldId id="450" r:id="rId3"/>
    <p:sldId id="451" r:id="rId4"/>
    <p:sldId id="452" r:id="rId5"/>
    <p:sldId id="453" r:id="rId6"/>
    <p:sldId id="454" r:id="rId7"/>
    <p:sldId id="455" r:id="rId8"/>
    <p:sldId id="456" r:id="rId9"/>
    <p:sldId id="457" r:id="rId10"/>
    <p:sldId id="459" r:id="rId11"/>
    <p:sldId id="458" r:id="rId12"/>
    <p:sldId id="46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36">
          <p15:clr>
            <a:srgbClr val="A4A3A4"/>
          </p15:clr>
        </p15:guide>
        <p15:guide id="2" orient="horz" pos="39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079" autoAdjust="0"/>
    <p:restoredTop sz="96327" autoAdjust="0"/>
  </p:normalViewPr>
  <p:slideViewPr>
    <p:cSldViewPr snapToGrid="0" showGuides="1">
      <p:cViewPr varScale="1">
        <p:scale>
          <a:sx n="112" d="100"/>
          <a:sy n="112" d="100"/>
        </p:scale>
        <p:origin x="834" y="96"/>
      </p:cViewPr>
      <p:guideLst>
        <p:guide orient="horz" pos="936"/>
        <p:guide orient="horz" pos="3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15" d="100"/>
          <a:sy n="115" d="100"/>
        </p:scale>
        <p:origin x="421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8F9E11-F642-4BF2-B4DC-AF7D35EA7551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A371A3-64EC-4735-8565-D99D78279674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27141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72A38B-F9FA-4036-A084-652409E98F08}" type="datetimeFigureOut">
              <a:rPr lang="en-GB" smtClean="0"/>
              <a:t>25/04/2026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436F85-577F-4A92-A47F-D540A2BCC82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09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076898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40594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hyperlink" Target="http://www.designguide.ku.dk/skabeloner/powerpoint/praesentationer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hyperlink" Target="https://image.ku.dk/shared/aZwD18034DnM3TYEw9XagEF6kxI6MLkV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lil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5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C1939100-E010-4143-9AE4-D4252D808A58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90682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st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7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 hasCustomPrompt="1"/>
          </p:nvPr>
        </p:nvSpPr>
        <p:spPr>
          <a:xfrm>
            <a:off x="0" y="691815"/>
            <a:ext cx="5959476" cy="5474035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ct val="9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master</a:t>
            </a:r>
          </a:p>
        </p:txBody>
      </p:sp>
      <p:sp>
        <p:nvSpPr>
          <p:cNvPr id="12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37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4" y="3007285"/>
            <a:ext cx="4946648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38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43EC545E-1E39-4013-A907-D4C8F3E3A8B4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1795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6243638" y="2271092"/>
            <a:ext cx="5948362" cy="3895200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2448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6622258" y="2610941"/>
            <a:ext cx="4962920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E5195FB-CC23-4662-BC95-6C4057FF490E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29679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 billede stor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11" name="Titel 2">
            <a:extLst>
              <a:ext uri="{FF2B5EF4-FFF2-40B4-BE49-F238E27FC236}">
                <a16:creationId xmlns:a16="http://schemas.microsoft.com/office/drawing/2014/main" id="{9210F5A1-BA4C-C241-930B-E24AB0E14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691815"/>
            <a:ext cx="5948362" cy="5474035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7AF680B5-5F7B-7C42-BF08-E9B604FEDF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E8639E81-1331-644F-9855-3A9C253754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2257" y="3007285"/>
            <a:ext cx="4979193" cy="726435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B7A6A120-00EE-3144-9AB3-0695A4240B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2257" y="1020200"/>
            <a:ext cx="4977606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5D6F800E-E8DB-D1E9-A292-CDCB828E80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850C8D61-CF2F-4293-9A1F-6B0C79C373C6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15" name="Pladsholder til sidefod 4" hidden="1">
            <a:extLst>
              <a:ext uri="{FF2B5EF4-FFF2-40B4-BE49-F238E27FC236}">
                <a16:creationId xmlns:a16="http://schemas.microsoft.com/office/drawing/2014/main" id="{75F96715-1FD5-51ED-7CC1-42E30D082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6" name="Pladsholder til slidenummer 5" hidden="1">
            <a:extLst>
              <a:ext uri="{FF2B5EF4-FFF2-40B4-BE49-F238E27FC236}">
                <a16:creationId xmlns:a16="http://schemas.microsoft.com/office/drawing/2014/main" id="{FF7B57F8-B201-8F25-4597-86F1EE0AF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098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a-DK" sz="24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9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26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42705"/>
            <a:ext cx="4983162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1570F19F-11E9-F8A1-DCD4-0B2BD422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34D99FEB-2FC3-4FA6-9F36-280592A4EBA0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11" name="Pladsholder til sidefod 4" hidden="1">
            <a:extLst>
              <a:ext uri="{FF2B5EF4-FFF2-40B4-BE49-F238E27FC236}">
                <a16:creationId xmlns:a16="http://schemas.microsoft.com/office/drawing/2014/main" id="{B7D930ED-6F01-0E90-6740-D9E50AA5B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2" name="Pladsholder til slidenummer 5" hidden="1">
            <a:extLst>
              <a:ext uri="{FF2B5EF4-FFF2-40B4-BE49-F238E27FC236}">
                <a16:creationId xmlns:a16="http://schemas.microsoft.com/office/drawing/2014/main" id="{ADD5A7A0-1930-6FDD-F270-B46368D36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780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stor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" name="Titel 2"/>
          <p:cNvSpPr>
            <a:spLocks noGrp="1"/>
          </p:cNvSpPr>
          <p:nvPr>
            <p:ph type="ctrTitle"/>
          </p:nvPr>
        </p:nvSpPr>
        <p:spPr>
          <a:xfrm>
            <a:off x="0" y="691815"/>
            <a:ext cx="5959476" cy="5474035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2" y="3007285"/>
            <a:ext cx="4946649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1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2" y="4053600"/>
            <a:ext cx="4946650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Pladsholder til dato 3" hidden="1">
            <a:extLst>
              <a:ext uri="{FF2B5EF4-FFF2-40B4-BE49-F238E27FC236}">
                <a16:creationId xmlns:a16="http://schemas.microsoft.com/office/drawing/2014/main" id="{B280A661-856C-E622-1331-CDB60AB08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A255E55A-4CBD-4745-9CAA-603B15E40F2A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14" name="Pladsholder til sidefod 4" hidden="1">
            <a:extLst>
              <a:ext uri="{FF2B5EF4-FFF2-40B4-BE49-F238E27FC236}">
                <a16:creationId xmlns:a16="http://schemas.microsoft.com/office/drawing/2014/main" id="{82F7776B-57AF-971B-A75B-223AFE263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5" name="Pladsholder til slidenummer 5" hidden="1">
            <a:extLst>
              <a:ext uri="{FF2B5EF4-FFF2-40B4-BE49-F238E27FC236}">
                <a16:creationId xmlns:a16="http://schemas.microsoft.com/office/drawing/2014/main" id="{EFF41101-1901-1836-D8DB-6C08E169D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2908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96859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og to indholdsobjek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865186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b="0" i="0" baseline="0" dirty="0" smtClean="0"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 hasCustomPrompt="1"/>
          </p:nvPr>
        </p:nvSpPr>
        <p:spPr>
          <a:xfrm>
            <a:off x="6246000" y="1628776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 lang="da-DK" dirty="0" smtClean="0"/>
            </a:lvl4pPr>
            <a:lvl5pPr>
              <a:defRPr lang="da-DK" dirty="0"/>
            </a:lvl5pPr>
            <a:lvl8pPr marL="719138" indent="0">
              <a:buNone/>
              <a:defRPr/>
            </a:lvl8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94B7A-445E-4B32-AE33-AE6AFA618291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549679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dhold og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6244651" y="1628775"/>
            <a:ext cx="5356800" cy="4672800"/>
          </a:xfrm>
          <a:solidFill>
            <a:schemeClr val="bg1">
              <a:lumMod val="75000"/>
            </a:schemeClr>
          </a:solidFill>
        </p:spPr>
        <p:txBody>
          <a:bodyPr lIns="360000" tIns="1080000" rIns="360000" anchor="ctr" anchorCtr="0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1B346-6D22-4E2E-9D8A-0DE526CBF6C5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17783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588963" y="1628775"/>
            <a:ext cx="11012487" cy="4673600"/>
          </a:xfrm>
          <a:solidFill>
            <a:schemeClr val="bg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2"/>
            <a:ext cx="11012486" cy="865187"/>
          </a:xfrm>
        </p:spPr>
        <p:txBody>
          <a:bodyPr/>
          <a:lstStyle/>
          <a:p>
            <a:r>
              <a:rPr lang="da-DK" dirty="0"/>
              <a:t>Klik for at tilføje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DCA84-DC5F-4F54-86C4-3A3F71268220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1916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 baseline="0"/>
            </a:lvl1pPr>
          </a:lstStyle>
          <a:p>
            <a:r>
              <a:rPr lang="da-DK" dirty="0"/>
              <a:t>Klik for at tilføje overskrift</a:t>
            </a:r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4F1A1-6766-441F-9F00-E93D521E50F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609304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4256D-1A02-4FDD-AA38-4D8490006FD4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3" name="Pladsholder til sidefod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315452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dato 3" hidden="1">
            <a:extLst>
              <a:ext uri="{FF2B5EF4-FFF2-40B4-BE49-F238E27FC236}">
                <a16:creationId xmlns:a16="http://schemas.microsoft.com/office/drawing/2014/main" id="{619D26E9-5B2E-9EAD-7ADF-91C2F6F527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0A4E1C7-F811-4F51-BDA9-17EBB9618420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4" name="Pladsholder til sidefod 4" hidden="1">
            <a:extLst>
              <a:ext uri="{FF2B5EF4-FFF2-40B4-BE49-F238E27FC236}">
                <a16:creationId xmlns:a16="http://schemas.microsoft.com/office/drawing/2014/main" id="{8A951072-2ED2-FF27-14A1-979FCDF1E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5" name="Pladsholder til slidenummer 5" hidden="1">
            <a:extLst>
              <a:ext uri="{FF2B5EF4-FFF2-40B4-BE49-F238E27FC236}">
                <a16:creationId xmlns:a16="http://schemas.microsoft.com/office/drawing/2014/main" id="{E8D58753-B44C-E044-E735-982626059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67575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to bulletlis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1008062"/>
          </a:xfrm>
        </p:spPr>
        <p:txBody>
          <a:bodyPr tIns="154800"/>
          <a:lstStyle>
            <a:lvl1pPr>
              <a:defRPr sz="6600" b="1" i="0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tilføj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2239315"/>
            <a:ext cx="5356800" cy="4063060"/>
          </a:xfrm>
        </p:spPr>
        <p:txBody>
          <a:bodyPr vert="horz" lIns="0" tIns="0" rIns="0" bIns="0" rtlCol="0">
            <a:noAutofit/>
          </a:bodyPr>
          <a:lstStyle>
            <a:lvl1pPr marL="363600" marR="0" indent="-363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a-DK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b="0" i="0" baseline="0" dirty="0" smtClean="0">
                <a:solidFill>
                  <a:schemeClr val="tx1"/>
                </a:solidFill>
              </a:defRPr>
            </a:lvl4pPr>
            <a:lvl5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5pPr>
            <a:lvl6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6pPr>
            <a:lvl7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7pPr>
            <a:lvl8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8pPr>
            <a:lvl9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2</a:t>
            </a:r>
          </a:p>
          <a:p>
            <a:pPr lvl="2"/>
            <a:r>
              <a:rPr lang="da-DK" dirty="0"/>
              <a:t>3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4" name="Pladsholder til indhold 3">
            <a:extLst>
              <a:ext uri="{FF2B5EF4-FFF2-40B4-BE49-F238E27FC236}">
                <a16:creationId xmlns:a16="http://schemas.microsoft.com/office/drawing/2014/main" id="{D13A21B6-F7F5-D15B-402D-6C21868F87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6000" y="2239315"/>
            <a:ext cx="5356800" cy="4063061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 marL="1072800" indent="-352800">
              <a:lnSpc>
                <a:spcPct val="90000"/>
              </a:lnSpc>
              <a:defRPr lang="da-DK" b="0" i="0" baseline="0" dirty="0" smtClean="0"/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dirty="0" smtClean="0"/>
            </a:lvl4pPr>
            <a:lvl5pPr marL="1072800" indent="-352800">
              <a:lnSpc>
                <a:spcPct val="90000"/>
              </a:lnSpc>
              <a:defRPr lang="da-DK" dirty="0"/>
            </a:lvl5pPr>
            <a:lvl6pPr marL="1072800" indent="-352800">
              <a:lnSpc>
                <a:spcPct val="90000"/>
              </a:lnSpc>
              <a:defRPr/>
            </a:lvl6pPr>
            <a:lvl7pPr marL="1072800" indent="-352800">
              <a:lnSpc>
                <a:spcPct val="90000"/>
              </a:lnSpc>
              <a:defRPr/>
            </a:lvl7pPr>
            <a:lvl8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/>
            </a:lvl8pPr>
            <a:lvl9pPr marL="1072800" indent="-352800">
              <a:lnSpc>
                <a:spcPct val="90000"/>
              </a:lnSpc>
              <a:defRPr/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08259-92F1-4C32-A312-C73CE2167131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79C41-6576-A494-B4DF-8A34076DB9A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3816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  <p15:guide id="3" orient="horz" pos="1410" userDrawn="1">
          <p15:clr>
            <a:srgbClr val="F26B43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én bulletlis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sz="3200" b="1" i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3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lang="da-DK" sz="3200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5082-3ECA-430B-8AFE-6C0254841555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117488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kstfelt 8">
            <a:extLst>
              <a:ext uri="{FF2B5EF4-FFF2-40B4-BE49-F238E27FC236}">
                <a16:creationId xmlns:a16="http://schemas.microsoft.com/office/drawing/2014/main" id="{3E866D85-79EE-184D-80E1-3ED545621736}"/>
              </a:ext>
            </a:extLst>
          </p:cNvPr>
          <p:cNvSpPr txBox="1"/>
          <p:nvPr userDrawn="1"/>
        </p:nvSpPr>
        <p:spPr>
          <a:xfrm>
            <a:off x="421280" y="612884"/>
            <a:ext cx="1167618" cy="8714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a-DK" sz="15000" b="1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1B53F7DA-513D-4E4A-A901-E83A56F29A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963" y="1628775"/>
            <a:ext cx="11012487" cy="4114799"/>
          </a:xfrm>
          <a:noFill/>
        </p:spPr>
        <p:txBody>
          <a:bodyPr lIns="0" tIns="0" rIns="0" bIns="0" anchor="t" anchorCtr="0"/>
          <a:lstStyle>
            <a:lvl1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0" kern="1200" cap="none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a-DK" dirty="0"/>
              <a:t>Klik for at tilføje tekst</a:t>
            </a:r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E095D626-8544-1B49-AD85-894AF40118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0400" y="5934971"/>
            <a:ext cx="11012400" cy="367404"/>
          </a:xfrm>
        </p:spPr>
        <p:txBody>
          <a:bodyPr anchor="b" anchorCtr="0">
            <a:noAutofit/>
          </a:bodyPr>
          <a:lstStyle>
            <a:lvl1pPr marL="0" indent="0">
              <a:spcBef>
                <a:spcPts val="500"/>
              </a:spcBef>
              <a:buNone/>
              <a:defRPr sz="24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Navn, kilde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52271-5E3D-4E06-BC0A-7C1022408CCC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09868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606056-13C4-B341-9D8B-68EA383036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527812"/>
            <a:ext cx="12192000" cy="955506"/>
          </a:xfrm>
          <a:noFill/>
        </p:spPr>
        <p:txBody>
          <a:bodyPr anchor="b" anchorCtr="0"/>
          <a:lstStyle>
            <a:lvl1pPr marL="0" indent="0" algn="ctr">
              <a:buFontTx/>
              <a:buNone/>
              <a:defRPr sz="66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FA67884-B97F-CB46-AABC-75F5273BB9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3559852"/>
            <a:ext cx="12192000" cy="955506"/>
          </a:xfrm>
          <a:noFill/>
        </p:spPr>
        <p:txBody>
          <a:bodyPr/>
          <a:lstStyle>
            <a:lvl1pPr marL="0" indent="0" algn="ctr">
              <a:buFontTx/>
              <a:buNone/>
              <a:defRPr sz="66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593FE-D5FA-4E0E-8FFF-8F10D57A1EC1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85453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l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DF7CB8-A29D-FD7D-E01C-9FA290029336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593043" y="992701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spcBef>
                <a:spcPts val="0"/>
              </a:spcBef>
              <a:buNone/>
              <a:defRPr sz="6000" b="1"/>
            </a:lvl1pPr>
          </a:lstStyle>
          <a:p>
            <a:pPr lvl="0"/>
            <a:r>
              <a:rPr lang="da-DK" dirty="0"/>
              <a:t>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999F43-7DCD-0386-4C37-C66F637D75F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309" y="992701"/>
            <a:ext cx="3590534" cy="1162800"/>
          </a:xfrm>
        </p:spPr>
        <p:txBody>
          <a:bodyPr anchor="ctr" anchorCtr="0"/>
          <a:lstStyle>
            <a:lvl1pPr marL="0" indent="0">
              <a:spcBef>
                <a:spcPts val="0"/>
              </a:spcBef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0FE321-409A-CB41-0D2F-3A239A66393D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6092802" y="91122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da-DK" dirty="0"/>
              <a:t>2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85D9037-4808-3FB4-8291-164C228C83E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38265" y="911224"/>
            <a:ext cx="370582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4F98610-1AA8-ED76-CB97-422A1761A39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272868" y="240982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3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4C99C31-A019-EB05-99AD-9B5C4892C3E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620656" y="2409825"/>
            <a:ext cx="3113087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A112A83-1D6E-E31B-3869-56E056FE8E0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188200" y="2970213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4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5507CD6-BB87-26DA-1CB3-C86DBC2ACD1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535988" y="2970213"/>
            <a:ext cx="306546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2EED4611-1BCD-13B0-4F45-DAEAB35290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58913" y="449897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5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B3B6A4E6-E617-BAD1-0112-A96754231B6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814435" y="4498975"/>
            <a:ext cx="293866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0135649F-22C1-794A-F31C-7DC6EA04B2E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72225" y="513804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6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35999C3D-9DB2-8B28-1D0E-EDC2C950F68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20013" y="5138044"/>
            <a:ext cx="334327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76D0-1C54-4AA2-B3C6-9EDE760637A2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64ADEF-11A6-3C5E-1BA5-4CA81A2F71C9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7843420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219F3-EBEC-4665-8131-8E409DE99ADE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56C2CA-F7BC-1643-99E7-A7AF34D16F06}"/>
              </a:ext>
            </a:extLst>
          </p:cNvPr>
          <p:cNvSpPr txBox="1"/>
          <p:nvPr userDrawn="1"/>
        </p:nvSpPr>
        <p:spPr>
          <a:xfrm>
            <a:off x="-1219200" y="-222738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92B83-0AC6-A343-9007-FC3430F06E87}"/>
              </a:ext>
            </a:extLst>
          </p:cNvPr>
          <p:cNvSpPr txBox="1"/>
          <p:nvPr userDrawn="1"/>
        </p:nvSpPr>
        <p:spPr>
          <a:xfrm>
            <a:off x="4531540" y="2322414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0ACD76-9286-81DA-B95A-33C567818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3" y="620712"/>
            <a:ext cx="11012488" cy="86485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indsætte tekst...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79DDD350-47B3-3DAF-DDC1-39725F8B959E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1478044" y="1850705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6F92D26-3C4A-BE86-A701-D767C111FE07}"/>
              </a:ext>
            </a:extLst>
          </p:cNvPr>
          <p:cNvSpPr>
            <a:spLocks noGrp="1" noChangeAspect="1"/>
          </p:cNvSpPr>
          <p:nvPr>
            <p:ph type="body" sz="quarter" idx="39" hasCustomPrompt="1"/>
          </p:nvPr>
        </p:nvSpPr>
        <p:spPr>
          <a:xfrm>
            <a:off x="5358802" y="2416707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76900F8-7802-5F50-6A9A-E75ED0B3EC0B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2869616" y="3779962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246C4547-72A6-0EEC-A5AF-48DBCE377E13}"/>
              </a:ext>
            </a:extLst>
          </p:cNvPr>
          <p:cNvSpPr>
            <a:spLocks noGrp="1" noChangeAspect="1"/>
          </p:cNvSpPr>
          <p:nvPr>
            <p:ph type="body" sz="quarter" idx="41" hasCustomPrompt="1"/>
          </p:nvPr>
        </p:nvSpPr>
        <p:spPr>
          <a:xfrm>
            <a:off x="7101336" y="4168447"/>
            <a:ext cx="701479" cy="701479"/>
          </a:xfrm>
          <a:prstGeom prst="ellipse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C0FCDE3-3080-15ED-F757-BF51628B67D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88964" y="5623418"/>
            <a:ext cx="11012486" cy="678958"/>
          </a:xfrm>
        </p:spPr>
        <p:txBody>
          <a:bodyPr anchor="b" anchorCtr="0"/>
          <a:lstStyle>
            <a:lvl1pPr marL="0" indent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1pPr>
            <a:lvl2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5pPr>
            <a:lvl6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6pPr>
            <a:lvl7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7pPr>
            <a:lvl8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8pPr>
            <a:lvl9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9pPr>
          </a:lstStyle>
          <a:p>
            <a:pPr lvl="0"/>
            <a:r>
              <a:rPr lang="da-DK" dirty="0"/>
              <a:t>...klik for at indsætte tekst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65C0B-FFD6-8BEB-537E-1AEDA679D666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20734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bille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9757" y="842657"/>
            <a:ext cx="11012486" cy="1141268"/>
          </a:xfrm>
        </p:spPr>
        <p:txBody>
          <a:bodyPr/>
          <a:lstStyle>
            <a:lvl1pPr>
              <a:lnSpc>
                <a:spcPct val="90000"/>
              </a:lnSpc>
              <a:defRPr sz="66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2B9D2-A192-42E6-9020-F3EAB57A6114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 rot="21402571">
            <a:off x="985914" y="2449156"/>
            <a:ext cx="4115489" cy="2817262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080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 rot="533356">
            <a:off x="5893725" y="2510306"/>
            <a:ext cx="5462634" cy="3596788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360000" tIns="1080000" rIns="36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F33A7-1D81-AB36-A3BB-FC35AF2B3579}"/>
              </a:ext>
            </a:extLst>
          </p:cNvPr>
          <p:cNvSpPr txBox="1"/>
          <p:nvPr userDrawn="1"/>
        </p:nvSpPr>
        <p:spPr>
          <a:xfrm>
            <a:off x="0" y="-310243"/>
            <a:ext cx="6825343" cy="31024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3D2255-9E79-5D04-C4A9-288BF0CCD6B2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10652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 bille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49CB1-FD99-442F-B632-7502FA9A3C45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757" y="2890520"/>
            <a:ext cx="3433685" cy="3403600"/>
          </a:xfrm>
          <a:solidFill>
            <a:schemeClr val="bg1">
              <a:lumMod val="6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52160" y="612233"/>
            <a:ext cx="5749290" cy="5681887"/>
          </a:xfrm>
          <a:solidFill>
            <a:schemeClr val="bg1">
              <a:lumMod val="7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40000" tIns="1080000" rIns="54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10" name="Pladsholder til billede 9">
            <a:extLst>
              <a:ext uri="{FF2B5EF4-FFF2-40B4-BE49-F238E27FC236}">
                <a16:creationId xmlns:a16="http://schemas.microsoft.com/office/drawing/2014/main" id="{43FCB96B-CD6D-B9F3-A688-74E5893485C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855041" y="1961476"/>
            <a:ext cx="2336801" cy="2294929"/>
          </a:xfrm>
          <a:solidFill>
            <a:schemeClr val="bg1">
              <a:lumMod val="8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18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23C8CB-D006-2AF2-DF37-08254005F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3"/>
            <a:ext cx="4602877" cy="1008061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overskrift</a:t>
            </a:r>
          </a:p>
        </p:txBody>
      </p:sp>
    </p:spTree>
    <p:extLst>
      <p:ext uri="{BB962C8B-B14F-4D97-AF65-F5344CB8AC3E}">
        <p14:creationId xmlns:p14="http://schemas.microsoft.com/office/powerpoint/2010/main" val="290571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høj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20891566">
            <a:off x="1018941" y="1976793"/>
            <a:ext cx="3832754" cy="3749640"/>
          </a:xfrm>
          <a:solidFill>
            <a:schemeClr val="tx1">
              <a:lumMod val="65000"/>
            </a:schemeClr>
          </a:solidFill>
          <a:ln w="146050" cap="flat">
            <a:solidFill>
              <a:schemeClr val="tx1"/>
            </a:solidFill>
            <a:miter lim="800000"/>
          </a:ln>
        </p:spPr>
        <p:txBody>
          <a:bodyPr lIns="0" tIns="1224000" rIns="0" anchor="ctr" anchorCtr="1"/>
          <a:lstStyle>
            <a:lvl1pPr marL="0" indent="0" algn="ctr">
              <a:buNone/>
              <a:defRPr sz="240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783580" y="2097067"/>
            <a:ext cx="5817869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tx1"/>
                </a:solidFill>
              </a:defRPr>
            </a:lvl1pPr>
            <a:lvl2pPr>
              <a:defRPr lang="da-DK" sz="3200" b="1" dirty="0" smtClean="0">
                <a:solidFill>
                  <a:schemeClr val="tx1"/>
                </a:solidFill>
              </a:defRPr>
            </a:lvl2pPr>
            <a:lvl3pPr>
              <a:defRPr lang="da-DK" sz="2400" b="1" dirty="0" smtClean="0">
                <a:solidFill>
                  <a:schemeClr val="tx1"/>
                </a:solidFill>
              </a:defRPr>
            </a:lvl3pPr>
            <a:lvl4pPr>
              <a:defRPr lang="da-DK" b="1" dirty="0" smtClean="0">
                <a:solidFill>
                  <a:schemeClr val="tx1"/>
                </a:solidFill>
              </a:defRPr>
            </a:lvl4pPr>
            <a:lvl5pPr>
              <a:defRPr lang="da-DK" b="1" dirty="0">
                <a:solidFill>
                  <a:schemeClr val="tx1"/>
                </a:solidFill>
              </a:defRPr>
            </a:lvl5pPr>
            <a:lvl6pPr>
              <a:defRPr b="1">
                <a:solidFill>
                  <a:schemeClr val="tx1"/>
                </a:solidFill>
              </a:defRPr>
            </a:lvl6pPr>
            <a:lvl7pPr>
              <a:defRPr b="1">
                <a:solidFill>
                  <a:schemeClr val="tx1"/>
                </a:solidFill>
              </a:defRPr>
            </a:lvl7pPr>
            <a:lvl8pPr>
              <a:defRPr b="1">
                <a:solidFill>
                  <a:schemeClr val="tx1"/>
                </a:solidFill>
              </a:defRPr>
            </a:lvl8pPr>
            <a:lvl9pPr>
              <a:defRPr b="1"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C56D48-5B3F-4C59-A9D8-68D0A39D6CD2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09686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vens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496878">
            <a:off x="6504534" y="1615672"/>
            <a:ext cx="4653097" cy="4640373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188000" rIns="0" anchor="ctr" anchorCtr="1"/>
          <a:lstStyle>
            <a:lvl1pPr marL="0" indent="0" algn="ctr">
              <a:buNone/>
              <a:defRPr sz="2400" b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5CAA0-42C1-41A7-86CE-BA2D8D2C2EF0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4AE573B-1000-D841-B8B4-F92752389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11" name="Pladsholder til indhold 2">
            <a:extLst>
              <a:ext uri="{FF2B5EF4-FFF2-40B4-BE49-F238E27FC236}">
                <a16:creationId xmlns:a16="http://schemas.microsoft.com/office/drawing/2014/main" id="{9B691B69-65AA-9748-80BF-996C89344BB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8963" y="2097067"/>
            <a:ext cx="5818682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bg1"/>
                </a:solidFill>
              </a:defRPr>
            </a:lvl1pPr>
            <a:lvl2pPr>
              <a:defRPr lang="da-DK" sz="3200" b="1" dirty="0" smtClean="0">
                <a:solidFill>
                  <a:schemeClr val="bg1"/>
                </a:solidFill>
              </a:defRPr>
            </a:lvl2pPr>
            <a:lvl3pPr>
              <a:defRPr lang="da-DK" sz="2400" b="1" dirty="0" smtClean="0">
                <a:solidFill>
                  <a:schemeClr val="bg1"/>
                </a:solidFill>
              </a:defRPr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14410657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1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756000"/>
            <a:ext cx="6822000" cy="1804492"/>
          </a:xfrm>
          <a:solidFill>
            <a:schemeClr val="accent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spcAft>
                <a:spcPts val="600"/>
              </a:spcAft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B073E-A784-466B-98E2-8BDE3F08A73A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277BB-5254-1D84-EA0B-F5AF633F0933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3174858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1" y="4962214"/>
            <a:ext cx="4173870" cy="1340161"/>
          </a:xfrm>
          <a:solidFill>
            <a:schemeClr val="accent4">
              <a:alpha val="99950"/>
            </a:schemeClr>
          </a:solidFill>
        </p:spPr>
        <p:txBody>
          <a:bodyPr wrap="square" lIns="252000" tIns="108000" rIns="252000" bIns="0" anchor="t" anchorCtr="0">
            <a:spAutoFit/>
          </a:bodyPr>
          <a:lstStyle>
            <a:lvl1pPr>
              <a:defRPr sz="40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92E9-ED6E-4E2D-9447-0E7DB3FDA12F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B20F-CD30-3447-301A-903E5BC5BED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200445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779450" y="4497883"/>
            <a:ext cx="6822000" cy="1804492"/>
          </a:xfrm>
          <a:solidFill>
            <a:schemeClr val="bg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D7C1D-A477-4C13-845F-4C5AC4DEDF20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15C28F-4EA0-040C-C6B4-A14FC010CCCE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0211859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1017402"/>
            <a:ext cx="11012487" cy="917513"/>
          </a:xfrm>
          <a:solidFill>
            <a:schemeClr val="bg2">
              <a:alpha val="99950"/>
            </a:schemeClr>
          </a:solidFill>
        </p:spPr>
        <p:txBody>
          <a:bodyPr wrap="square" lIns="180000" tIns="180000" rIns="180000" bIns="180000">
            <a:spAutoFit/>
          </a:bodyPr>
          <a:lstStyle>
            <a:lvl1pPr>
              <a:defRPr sz="36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B22DB-13B5-430F-8C6F-F11F20BF0D18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58AF7-9740-8AD8-0C21-42A01D828328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171692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4161995"/>
            <a:ext cx="11012487" cy="2140380"/>
          </a:xfrm>
          <a:solidFill>
            <a:schemeClr val="bg1">
              <a:alpha val="46000"/>
            </a:schemeClr>
          </a:solidFill>
        </p:spPr>
        <p:txBody>
          <a:bodyPr wrap="square" lIns="252000" tIns="108000" rIns="252000" bIns="0">
            <a:spAutoFit/>
          </a:bodyPr>
          <a:lstStyle>
            <a:lvl1pPr algn="ctr">
              <a:defRPr sz="66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DEF25-ACCC-4F90-BF7A-77B4DDE7678A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1727BB-AC18-C435-CD32-52483CA4B110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573279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ørgsmål &amp; kommentar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8B2A5-1DCC-48EA-93B7-A2D65B200BE6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7" name="?">
            <a:extLst>
              <a:ext uri="{FF2B5EF4-FFF2-40B4-BE49-F238E27FC236}">
                <a16:creationId xmlns:a16="http://schemas.microsoft.com/office/drawing/2014/main" id="{C9382B17-B390-C8C0-F5F8-7665434C718C}"/>
              </a:ext>
            </a:extLst>
          </p:cNvPr>
          <p:cNvSpPr/>
          <p:nvPr userDrawn="1"/>
        </p:nvSpPr>
        <p:spPr>
          <a:xfrm>
            <a:off x="3642413" y="900524"/>
            <a:ext cx="4787900" cy="5558804"/>
          </a:xfrm>
          <a:prstGeom prst="rect">
            <a:avLst/>
          </a:prstGeom>
        </p:spPr>
        <p:txBody>
          <a:bodyPr wrap="square" rtlCol="0" anchor="t" anchorCtr="0">
            <a:noAutofit/>
          </a:bodyPr>
          <a:lstStyle/>
          <a:p>
            <a:pPr algn="ctr">
              <a:lnSpc>
                <a:spcPct val="83000"/>
              </a:lnSpc>
            </a:pPr>
            <a:r>
              <a:rPr lang="da-DK" sz="59500" b="1" dirty="0">
                <a:solidFill>
                  <a:schemeClr val="tx1">
                    <a:alpha val="14559"/>
                  </a:schemeClr>
                </a:solidFill>
              </a:rPr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0714F6-6F11-9826-9767-37567B1EC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39732" y="1628776"/>
            <a:ext cx="9461718" cy="3999626"/>
          </a:xfrm>
        </p:spPr>
        <p:txBody>
          <a:bodyPr anchor="ctr" anchorCtr="0"/>
          <a:lstStyle>
            <a:lvl1pPr>
              <a:lnSpc>
                <a:spcPct val="83000"/>
              </a:lnSpc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61DB2-11FB-99E1-B80B-1463133B9A24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0272847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uger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/>
          <p:cNvSpPr txBox="1">
            <a:spLocks/>
          </p:cNvSpPr>
          <p:nvPr userDrawn="1"/>
        </p:nvSpPr>
        <p:spPr>
          <a:xfrm>
            <a:off x="588964" y="613649"/>
            <a:ext cx="11012486" cy="87992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sz="3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 sz="3000" dirty="0">
                <a:solidFill>
                  <a:schemeClr val="tx1"/>
                </a:solidFill>
              </a:rPr>
              <a:t>Brugerguide</a:t>
            </a:r>
            <a:r>
              <a:rPr lang="da-DK" baseline="0" dirty="0">
                <a:solidFill>
                  <a:schemeClr val="tx1"/>
                </a:solidFill>
              </a:rPr>
              <a:t> </a:t>
            </a:r>
            <a:r>
              <a:rPr lang="da-DK" sz="1800" baseline="0" dirty="0">
                <a:solidFill>
                  <a:schemeClr val="tx1"/>
                </a:solidFill>
              </a:rPr>
              <a:t>– </a:t>
            </a:r>
            <a:r>
              <a:rPr lang="da-DK" sz="1800" dirty="0">
                <a:solidFill>
                  <a:schemeClr val="tx1"/>
                </a:solidFill>
              </a:rPr>
              <a:t>Slet, før du færdiggør din</a:t>
            </a:r>
            <a:r>
              <a:rPr lang="da-DK" sz="1800" baseline="0" dirty="0">
                <a:solidFill>
                  <a:schemeClr val="tx1"/>
                </a:solidFill>
              </a:rPr>
              <a:t> </a:t>
            </a:r>
            <a:r>
              <a:rPr lang="da-DK" sz="1800" dirty="0">
                <a:solidFill>
                  <a:schemeClr val="tx1"/>
                </a:solidFill>
              </a:rPr>
              <a:t>præsentation</a:t>
            </a:r>
          </a:p>
        </p:txBody>
      </p:sp>
      <p:sp>
        <p:nvSpPr>
          <p:cNvPr id="48" name="Text Box 48"/>
          <p:cNvSpPr txBox="1">
            <a:spLocks noChangeArrowheads="1"/>
          </p:cNvSpPr>
          <p:nvPr userDrawn="1"/>
        </p:nvSpPr>
        <p:spPr bwMode="auto">
          <a:xfrm>
            <a:off x="587376" y="1640495"/>
            <a:ext cx="1750290" cy="3842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KU-skabeloner til PowerPoint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åbner PowerPoint på din KU-pc, åbner en skabelon i 16:9-format og med dansk KU-logo.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klikker på KU-fanen i værktøjslinjen, kan du via knappen ”Vælg Skabelon” vælge mellem skabeloner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på henholdsvis dansk og engelsk 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”fuld” eller ”lille” version (i den fulde version ser du et eksempel på hver diastype i venstrespalten)</a:t>
            </a:r>
          </a:p>
          <a:p>
            <a:pPr marL="88900" lvl="0" indent="-88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samt en demopræsentation med indsat tekst på engelsk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Hvis du bruger en ”fuld” version, skal du slette de dias, du ikke vil bruge.</a:t>
            </a: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Mac-brugere m.fl. kan hente PowerPoint-skabelonerne på</a:t>
            </a:r>
            <a:r>
              <a:rPr lang="da-DK" sz="800" baseline="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dirty="0">
              <a:solidFill>
                <a:schemeClr val="accent4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Text Box 48"/>
          <p:cNvSpPr txBox="1">
            <a:spLocks noChangeArrowheads="1"/>
          </p:cNvSpPr>
          <p:nvPr userDrawn="1"/>
        </p:nvSpPr>
        <p:spPr bwMode="auto">
          <a:xfrm>
            <a:off x="2576655" y="4237555"/>
            <a:ext cx="1755548" cy="1763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 din enheds navn (fx institut), sidenummer og dato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1.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Indsæt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topmenuen 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2.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Sidehoved og Sidefod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3.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Udfyld felterne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4. 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 på alle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- eller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, hvis det kun skal være på et enkelt dias/slide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Oplysningerne placeres i højre side af den grå topbjælke.</a:t>
            </a:r>
          </a:p>
        </p:txBody>
      </p:sp>
      <p:sp>
        <p:nvSpPr>
          <p:cNvPr id="50" name="Text Box 48"/>
          <p:cNvSpPr txBox="1">
            <a:spLocks noChangeArrowheads="1"/>
          </p:cNvSpPr>
          <p:nvPr userDrawn="1"/>
        </p:nvSpPr>
        <p:spPr bwMode="auto">
          <a:xfrm>
            <a:off x="587375" y="5678667"/>
            <a:ext cx="189959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Lav nyt dias/slide (hhv. 2010- + 2013- og 2016-version) 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</p:txBody>
      </p:sp>
      <p:pic>
        <p:nvPicPr>
          <p:cNvPr id="51" name="Billede 40"/>
          <p:cNvPicPr>
            <a:picLocks noChangeAspect="1"/>
          </p:cNvPicPr>
          <p:nvPr userDrawn="1"/>
        </p:nvPicPr>
        <p:blipFill rotWithShape="1">
          <a:blip r:embed="rId3"/>
          <a:srcRect l="36944" r="2272" b="69429"/>
          <a:stretch/>
        </p:blipFill>
        <p:spPr>
          <a:xfrm>
            <a:off x="4157637" y="2940574"/>
            <a:ext cx="395416" cy="126627"/>
          </a:xfrm>
          <a:prstGeom prst="rect">
            <a:avLst/>
          </a:prstGeom>
        </p:spPr>
      </p:pic>
      <p:sp>
        <p:nvSpPr>
          <p:cNvPr id="52" name="Text Box 48"/>
          <p:cNvSpPr txBox="1">
            <a:spLocks noChangeArrowheads="1"/>
          </p:cNvSpPr>
          <p:nvPr userDrawn="1"/>
        </p:nvSpPr>
        <p:spPr bwMode="auto">
          <a:xfrm>
            <a:off x="2587038" y="2582327"/>
            <a:ext cx="1624241" cy="72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Diastype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Vælg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Layout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dit nuværende dias/slide til et alternativt layout</a:t>
            </a:r>
          </a:p>
        </p:txBody>
      </p:sp>
      <p:sp>
        <p:nvSpPr>
          <p:cNvPr id="53" name="Text Box 48"/>
          <p:cNvSpPr txBox="1">
            <a:spLocks noChangeArrowheads="1"/>
          </p:cNvSpPr>
          <p:nvPr userDrawn="1"/>
        </p:nvSpPr>
        <p:spPr bwMode="auto">
          <a:xfrm>
            <a:off x="2576655" y="3571524"/>
            <a:ext cx="1634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Skrift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 Anvender skriften Microsoft New Tai Lue i PowerPoint.</a:t>
            </a:r>
            <a:endParaRPr lang="da-DK" altLang="da-DK" sz="800" b="0" baseline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54" name="Text Box 48"/>
          <p:cNvSpPr txBox="1">
            <a:spLocks noChangeArrowheads="1"/>
          </p:cNvSpPr>
          <p:nvPr userDrawn="1"/>
        </p:nvSpPr>
        <p:spPr bwMode="auto">
          <a:xfrm>
            <a:off x="4739114" y="1627125"/>
            <a:ext cx="1634624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se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Klik på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Vis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Gitterlinjer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og/eller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etablere flere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Før musen over en eksisterende hjælpelinje og klik på linjen (koordinater på linjen vises)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CTRL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nede, mens du flytter placeringen af den eksisterende linje (tilføjer en ny)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Tryk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Alt + F9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hurtig visning af hjælpelinjer</a:t>
            </a:r>
          </a:p>
        </p:txBody>
      </p:sp>
      <p:sp>
        <p:nvSpPr>
          <p:cNvPr id="55" name="Text Box 48"/>
          <p:cNvSpPr txBox="1">
            <a:spLocks noChangeArrowheads="1"/>
          </p:cNvSpPr>
          <p:nvPr userDrawn="1"/>
        </p:nvSpPr>
        <p:spPr bwMode="auto">
          <a:xfrm>
            <a:off x="4728822" y="4141417"/>
            <a:ext cx="1634624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På layouts med billedholder: Klik på ikon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Teksten ”Klik her, hvis du vil udskifte billedet” bliver ikke vist i din præsentation.  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hente KU-billeder, som er tilpasset og minimeret til 16:9-format via dette link:</a:t>
            </a:r>
            <a:b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https://image.ku.dk/shared/aZwD18034DnM3TYEw9XagEF6kxI6MLkV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slideshow-visning for at gøre linket aktivt.</a:t>
            </a:r>
          </a:p>
        </p:txBody>
      </p:sp>
      <p:sp>
        <p:nvSpPr>
          <p:cNvPr id="56" name="Text Box 48"/>
          <p:cNvSpPr txBox="1">
            <a:spLocks noChangeArrowheads="1"/>
          </p:cNvSpPr>
          <p:nvPr userDrawn="1"/>
        </p:nvSpPr>
        <p:spPr bwMode="auto">
          <a:xfrm>
            <a:off x="6691561" y="1640495"/>
            <a:ext cx="1634624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Billedstørrelser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De optimale billedstørrelser 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16:9-format: 1.500 x 818 pixels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Gem billederne i 72 dpi og i ”jpg-medium-kvalitet”</a:t>
            </a:r>
          </a:p>
        </p:txBody>
      </p:sp>
      <p:sp>
        <p:nvSpPr>
          <p:cNvPr id="57" name="Text Box 48"/>
          <p:cNvSpPr txBox="1">
            <a:spLocks noChangeArrowheads="1"/>
          </p:cNvSpPr>
          <p:nvPr userDrawn="1"/>
        </p:nvSpPr>
        <p:spPr bwMode="auto">
          <a:xfrm>
            <a:off x="6691561" y="2720006"/>
            <a:ext cx="1634624" cy="19205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. Klik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at ændre billedets fokus/størrelse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Ønsker du at skalere billedet, så 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SHIFT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-knappen nede, mens du trækker i billedets hjørner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3.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billedet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</p:txBody>
      </p:sp>
      <p:sp>
        <p:nvSpPr>
          <p:cNvPr id="58" name="Text Box 48"/>
          <p:cNvSpPr txBox="1">
            <a:spLocks noChangeArrowheads="1"/>
          </p:cNvSpPr>
          <p:nvPr userDrawn="1"/>
        </p:nvSpPr>
        <p:spPr bwMode="auto">
          <a:xfrm>
            <a:off x="6691561" y="4765322"/>
            <a:ext cx="1634624" cy="88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Skabelonens farver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vælge mellem en række farver til baggrunde og grafer.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den flade, du vil skifte farve på, og derefter malerbøtte-ikonet (Fyldfarve til figur)</a:t>
            </a:r>
          </a:p>
        </p:txBody>
      </p:sp>
      <p:sp>
        <p:nvSpPr>
          <p:cNvPr id="59" name="Text Box 48"/>
          <p:cNvSpPr txBox="1">
            <a:spLocks noChangeArrowheads="1"/>
          </p:cNvSpPr>
          <p:nvPr userDrawn="1"/>
        </p:nvSpPr>
        <p:spPr bwMode="auto">
          <a:xfrm>
            <a:off x="6691561" y="5815137"/>
            <a:ext cx="163462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Mere information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Se</a:t>
            </a:r>
            <a: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designguiden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på</a:t>
            </a:r>
            <a:b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0" name="Billede 25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268044" y="4201412"/>
            <a:ext cx="257327" cy="275280"/>
          </a:xfrm>
          <a:prstGeom prst="rect">
            <a:avLst/>
          </a:prstGeom>
        </p:spPr>
      </p:pic>
      <p:pic>
        <p:nvPicPr>
          <p:cNvPr id="61" name="Billede 36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8223538" y="2795378"/>
            <a:ext cx="288708" cy="275280"/>
          </a:xfrm>
          <a:prstGeom prst="rect">
            <a:avLst/>
          </a:prstGeom>
        </p:spPr>
      </p:pic>
      <p:pic>
        <p:nvPicPr>
          <p:cNvPr id="62" name="Billede 37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8241826" y="3187789"/>
            <a:ext cx="223122" cy="228843"/>
          </a:xfrm>
          <a:prstGeom prst="rect">
            <a:avLst/>
          </a:prstGeom>
        </p:spPr>
      </p:pic>
      <p:sp>
        <p:nvSpPr>
          <p:cNvPr id="63" name="Text Box 48"/>
          <p:cNvSpPr txBox="1">
            <a:spLocks noChangeArrowheads="1"/>
          </p:cNvSpPr>
          <p:nvPr userDrawn="1"/>
        </p:nvSpPr>
        <p:spPr bwMode="auto">
          <a:xfrm>
            <a:off x="2564067" y="1666128"/>
            <a:ext cx="1768136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Under knappen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Nyt dias/Nyt slide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på øverste del af knappen for at oprette i et dias/slide magen til det markerede. Klik på nederste del for at se et udvalg af mulige layoutvalg</a:t>
            </a:r>
            <a:endParaRPr lang="da-DK" altLang="da-DK" sz="8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4" name="Billede 39"/>
          <p:cNvPicPr>
            <a:picLocks noChangeAspect="1"/>
          </p:cNvPicPr>
          <p:nvPr userDrawn="1"/>
        </p:nvPicPr>
        <p:blipFill rotWithShape="1">
          <a:blip r:embed="rId3"/>
          <a:srcRect l="2931" r="60888"/>
          <a:stretch/>
        </p:blipFill>
        <p:spPr>
          <a:xfrm>
            <a:off x="4231619" y="1844048"/>
            <a:ext cx="235367" cy="418987"/>
          </a:xfrm>
          <a:prstGeom prst="rect">
            <a:avLst/>
          </a:prstGeom>
        </p:spPr>
      </p:pic>
      <p:sp>
        <p:nvSpPr>
          <p:cNvPr id="65" name="Freeform 10"/>
          <p:cNvSpPr>
            <a:spLocks noChangeAspect="1"/>
          </p:cNvSpPr>
          <p:nvPr userDrawn="1"/>
        </p:nvSpPr>
        <p:spPr>
          <a:xfrm rot="19800000">
            <a:off x="4404080" y="1900198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66" name="Freeform 10"/>
          <p:cNvSpPr>
            <a:spLocks noChangeAspect="1"/>
          </p:cNvSpPr>
          <p:nvPr userDrawn="1"/>
        </p:nvSpPr>
        <p:spPr>
          <a:xfrm rot="19800000">
            <a:off x="4416414" y="2138150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22" name="Pladsholder til dato 3" hidden="1">
            <a:extLst>
              <a:ext uri="{FF2B5EF4-FFF2-40B4-BE49-F238E27FC236}">
                <a16:creationId xmlns:a16="http://schemas.microsoft.com/office/drawing/2014/main" id="{79C6BA40-0A49-7673-45A9-7C4D3541BA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FA96AD4B-435A-4D0A-87A0-F4000646B7B6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23" name="Pladsholder til sidefod 4" hidden="1">
            <a:extLst>
              <a:ext uri="{FF2B5EF4-FFF2-40B4-BE49-F238E27FC236}">
                <a16:creationId xmlns:a16="http://schemas.microsoft.com/office/drawing/2014/main" id="{F4D4719E-1E3F-B75D-AF75-C575C79D6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24" name="Pladsholder til slidenummer 5" hidden="1">
            <a:extLst>
              <a:ext uri="{FF2B5EF4-FFF2-40B4-BE49-F238E27FC236}">
                <a16:creationId xmlns:a16="http://schemas.microsoft.com/office/drawing/2014/main" id="{9434FDBC-E923-AFC0-E942-C95672454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4027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588965" y="620714"/>
            <a:ext cx="11012486" cy="86485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588964" y="1628775"/>
            <a:ext cx="11012487" cy="4673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0" name="Rectangle 19">
            <a:extLst>
              <a:ext uri="{FF2B5EF4-FFF2-40B4-BE49-F238E27FC236}">
                <a16:creationId xmlns:a16="http://schemas.microsoft.com/office/drawing/2014/main" id="{AF5BBBEC-8DDA-37BC-3B1E-5DB781A5DDC2}"/>
              </a:ext>
            </a:extLst>
          </p:cNvPr>
          <p:cNvSpPr/>
          <p:nvPr userDrawn="1"/>
        </p:nvSpPr>
        <p:spPr>
          <a:xfrm>
            <a:off x="0" y="0"/>
            <a:ext cx="12192000" cy="332655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EEEFEE">
                  <a:alpha val="92941"/>
                </a:srgbClr>
              </a:gs>
            </a:gsLst>
            <a:lin ang="5400000" scaled="0"/>
            <a:tileRect/>
          </a:gradFill>
          <a:ln w="38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2"/>
          <a:srcRect l="12043" t="11448" r="17199" b="13844"/>
          <a:stretch/>
        </p:blipFill>
        <p:spPr>
          <a:xfrm>
            <a:off x="335534" y="63578"/>
            <a:ext cx="166516" cy="211296"/>
          </a:xfrm>
          <a:prstGeom prst="rect">
            <a:avLst/>
          </a:prstGeom>
        </p:spPr>
      </p:pic>
      <p:pic>
        <p:nvPicPr>
          <p:cNvPr id="9" name="Picture 27"/>
          <p:cNvPicPr>
            <a:picLocks noChangeAspect="1"/>
          </p:cNvPicPr>
          <p:nvPr userDrawn="1"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98" y="96467"/>
            <a:ext cx="2346641" cy="159521"/>
          </a:xfrm>
          <a:prstGeom prst="rect">
            <a:avLst/>
          </a:prstGeom>
        </p:spPr>
      </p:pic>
      <p:sp>
        <p:nvSpPr>
          <p:cNvPr id="5" name="Pladsholder til sidefod 4"/>
          <p:cNvSpPr>
            <a:spLocks noGrp="1"/>
          </p:cNvSpPr>
          <p:nvPr>
            <p:ph type="ftr" sz="quarter" idx="3"/>
          </p:nvPr>
        </p:nvSpPr>
        <p:spPr>
          <a:xfrm>
            <a:off x="3236495" y="85745"/>
            <a:ext cx="6981162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11219691" y="85745"/>
            <a:ext cx="381759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2"/>
          </p:nvPr>
        </p:nvSpPr>
        <p:spPr>
          <a:xfrm>
            <a:off x="10329111" y="85745"/>
            <a:ext cx="814976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7A056A0C-BA80-48B5-9C35-4A96F80DBB77}" type="datetime1">
              <a:rPr lang="da-DK" smtClean="0"/>
              <a:t>25-04-2026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3620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9" r:id="rId2"/>
    <p:sldLayoutId id="2147483671" r:id="rId3"/>
    <p:sldLayoutId id="2147483701" r:id="rId4"/>
    <p:sldLayoutId id="2147483674" r:id="rId5"/>
    <p:sldLayoutId id="2147483670" r:id="rId6"/>
    <p:sldLayoutId id="2147483660" r:id="rId7"/>
    <p:sldLayoutId id="2147483662" r:id="rId8"/>
    <p:sldLayoutId id="2147483684" r:id="rId9"/>
    <p:sldLayoutId id="2147483685" r:id="rId10"/>
    <p:sldLayoutId id="2147483664" r:id="rId11"/>
    <p:sldLayoutId id="2147483665" r:id="rId12"/>
    <p:sldLayoutId id="2147483689" r:id="rId13"/>
    <p:sldLayoutId id="2147483702" r:id="rId14"/>
    <p:sldLayoutId id="2147483703" r:id="rId15"/>
    <p:sldLayoutId id="2147483694" r:id="rId16"/>
    <p:sldLayoutId id="2147483692" r:id="rId17"/>
    <p:sldLayoutId id="2147483691" r:id="rId18"/>
    <p:sldLayoutId id="2147483697" r:id="rId19"/>
    <p:sldLayoutId id="2147483704" r:id="rId20"/>
    <p:sldLayoutId id="2147483705" r:id="rId21"/>
    <p:sldLayoutId id="2147483695" r:id="rId22"/>
    <p:sldLayoutId id="2147483698" r:id="rId23"/>
    <p:sldLayoutId id="2147483706" r:id="rId24"/>
    <p:sldLayoutId id="2147483707" r:id="rId25"/>
    <p:sldLayoutId id="2147483708" r:id="rId26"/>
    <p:sldLayoutId id="2147483709" r:id="rId27"/>
    <p:sldLayoutId id="2147483710" r:id="rId28"/>
    <p:sldLayoutId id="2147483693" r:id="rId29"/>
    <p:sldLayoutId id="2147483688" r:id="rId30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000" b="0" i="0" kern="1200" spc="60" baseline="0">
          <a:solidFill>
            <a:schemeClr val="accent1"/>
          </a:solidFill>
          <a:latin typeface="+mj-lt"/>
          <a:ea typeface="Open Sans Extrabold" panose="020B0606030504020204" pitchFamily="34" charset="0"/>
          <a:cs typeface="Microsoft New Tai Lue" panose="020B0502040204020203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lang="da-DK" sz="24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1pPr>
      <a:lvl2pPr marL="719138" marR="0" indent="-358775" algn="l" defTabSz="914400" rtl="0" eaLnBrk="1" fontAlgn="auto" latinLnBrk="0" hangingPunct="1">
        <a:lnSpc>
          <a:spcPct val="10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lang="da-DK" sz="20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2pPr>
      <a:lvl3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3pPr>
      <a:lvl4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4pPr>
      <a:lvl5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5pPr>
      <a:lvl6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6pPr>
      <a:lvl7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7pPr>
      <a:lvl8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8pPr>
      <a:lvl9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391" userDrawn="1">
          <p15:clr>
            <a:srgbClr val="F26B43"/>
          </p15:clr>
        </p15:guide>
        <p15:guide id="4" orient="horz" pos="935" userDrawn="1">
          <p15:clr>
            <a:srgbClr val="F26B43"/>
          </p15:clr>
        </p15:guide>
        <p15:guide id="5" pos="371" userDrawn="1">
          <p15:clr>
            <a:srgbClr val="F26B43"/>
          </p15:clr>
        </p15:guide>
        <p15:guide id="6" pos="7308" userDrawn="1">
          <p15:clr>
            <a:srgbClr val="F26B43"/>
          </p15:clr>
        </p15:guide>
        <p15:guide id="7" orient="horz" pos="1026" userDrawn="1">
          <p15:clr>
            <a:srgbClr val="F26B43"/>
          </p15:clr>
        </p15:guide>
        <p15:guide id="8" orient="horz" pos="397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4A27-B96F-FF49-952F-8EF3F8AA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270F0-8F8E-46A3-BFFE-96163F9D413B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356401-0EC4-5C4E-B05C-BACA002CF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pPr/>
              <a:t>1</a:t>
            </a:fld>
            <a:endParaRPr lang="da-DK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EA49827-CE52-FD4B-8399-162D5E1DD0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55F9F9FB-61AF-8548-83E5-79EB62A8C8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Seminar: Econometric Models in Financial Applications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2D5F85F-0777-314B-A8CB-A12F7D46B7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a-DK" b="0" dirty="0"/>
              <a:t>Jacob, Frederik og Jamie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218C83D-C112-3B45-B0BC-99E9475815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a-DK" sz="3200" b="0" dirty="0" err="1"/>
              <a:t>Volatility</a:t>
            </a:r>
            <a:r>
              <a:rPr lang="da-DK" sz="3200" b="0" dirty="0"/>
              <a:t> and signal </a:t>
            </a:r>
            <a:r>
              <a:rPr lang="da-DK" sz="3200" b="0" dirty="0" err="1"/>
              <a:t>clustering</a:t>
            </a:r>
            <a:r>
              <a:rPr lang="da-DK" sz="3200" b="0" dirty="0"/>
              <a:t> for </a:t>
            </a:r>
            <a:r>
              <a:rPr lang="da-DK" sz="3200" b="0" dirty="0" err="1"/>
              <a:t>optimized</a:t>
            </a:r>
            <a:r>
              <a:rPr lang="da-DK" sz="3200" b="0" dirty="0"/>
              <a:t> asset </a:t>
            </a:r>
            <a:r>
              <a:rPr lang="da-DK" sz="3200" b="0" dirty="0" err="1"/>
              <a:t>allocation</a:t>
            </a:r>
            <a:endParaRPr lang="da-DK" sz="3200" b="0" dirty="0"/>
          </a:p>
        </p:txBody>
      </p:sp>
    </p:spTree>
    <p:extLst>
      <p:ext uri="{BB962C8B-B14F-4D97-AF65-F5344CB8AC3E}">
        <p14:creationId xmlns:p14="http://schemas.microsoft.com/office/powerpoint/2010/main" val="26097627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5D791-CCB3-1E41-9275-846295D5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Introduction</a:t>
            </a:r>
            <a:endParaRPr lang="da-D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54480-C453-0249-AF66-494D6C878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Data</a:t>
            </a:r>
          </a:p>
          <a:p>
            <a:r>
              <a:rPr lang="da-DK" dirty="0"/>
              <a:t>Clustering</a:t>
            </a:r>
          </a:p>
          <a:p>
            <a:r>
              <a:rPr lang="da-DK" dirty="0" err="1"/>
              <a:t>Markowitz</a:t>
            </a:r>
            <a:r>
              <a:rPr lang="da-DK" dirty="0"/>
              <a:t> regime </a:t>
            </a:r>
            <a:r>
              <a:rPr lang="da-DK" dirty="0" err="1"/>
              <a:t>weight</a:t>
            </a:r>
            <a:endParaRPr lang="da-DK" dirty="0"/>
          </a:p>
          <a:p>
            <a:r>
              <a:rPr lang="da-DK" dirty="0"/>
              <a:t>Dynamic regime </a:t>
            </a:r>
            <a:r>
              <a:rPr lang="da-DK" dirty="0" err="1"/>
              <a:t>weight</a:t>
            </a:r>
            <a:r>
              <a:rPr lang="da-DK" dirty="0"/>
              <a:t> </a:t>
            </a:r>
            <a:r>
              <a:rPr lang="da-DK" dirty="0" err="1"/>
              <a:t>selection</a:t>
            </a:r>
            <a:endParaRPr lang="da-DK" dirty="0"/>
          </a:p>
          <a:p>
            <a:endParaRPr lang="da-DK" dirty="0"/>
          </a:p>
          <a:p>
            <a:pPr marL="360363" lvl="1" indent="0">
              <a:buNone/>
            </a:pPr>
            <a:endParaRPr lang="da-DK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3716D6-12A9-6848-9732-186C35C72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FD22D-F364-4E9E-AF9D-75D698CDD634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59EDD3-1818-064E-95C1-FCEF1BC9C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79576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D36AD3-41FF-C9D1-CA4D-0F2725B32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Data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0F722C9-7148-F195-943E-157F620BC6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8962" y="1261306"/>
            <a:ext cx="11012488" cy="4673600"/>
          </a:xfrm>
        </p:spPr>
        <p:txBody>
          <a:bodyPr/>
          <a:lstStyle/>
          <a:p>
            <a:r>
              <a:rPr lang="da-DK" dirty="0"/>
              <a:t>Data </a:t>
            </a:r>
            <a:r>
              <a:rPr lang="da-DK" dirty="0" err="1"/>
              <a:t>pull</a:t>
            </a:r>
            <a:r>
              <a:rPr lang="da-DK" dirty="0"/>
              <a:t> from Yahoo and FRED Databases</a:t>
            </a:r>
          </a:p>
          <a:p>
            <a:r>
              <a:rPr lang="da-DK" dirty="0"/>
              <a:t>Assets </a:t>
            </a:r>
            <a:r>
              <a:rPr lang="da-DK" dirty="0" err="1"/>
              <a:t>used</a:t>
            </a:r>
            <a:endParaRPr lang="da-DK" dirty="0"/>
          </a:p>
          <a:p>
            <a:pPr lvl="1"/>
            <a:r>
              <a:rPr lang="da-DK" dirty="0"/>
              <a:t>SP500</a:t>
            </a:r>
          </a:p>
          <a:p>
            <a:pPr lvl="1"/>
            <a:r>
              <a:rPr lang="da-DK" dirty="0"/>
              <a:t>QQQ</a:t>
            </a:r>
          </a:p>
          <a:p>
            <a:pPr lvl="1"/>
            <a:r>
              <a:rPr lang="da-DK" dirty="0"/>
              <a:t>Gold</a:t>
            </a:r>
          </a:p>
          <a:p>
            <a:pPr lvl="1"/>
            <a:r>
              <a:rPr lang="da-DK" dirty="0"/>
              <a:t>RealEstate</a:t>
            </a:r>
          </a:p>
          <a:p>
            <a:r>
              <a:rPr lang="da-DK" dirty="0"/>
              <a:t>Features </a:t>
            </a:r>
            <a:r>
              <a:rPr lang="da-DK" dirty="0" err="1"/>
              <a:t>used</a:t>
            </a:r>
            <a:r>
              <a:rPr lang="da-DK" dirty="0"/>
              <a:t>.</a:t>
            </a:r>
          </a:p>
          <a:p>
            <a:pPr lvl="1"/>
            <a:r>
              <a:rPr lang="da-DK" dirty="0"/>
              <a:t>Inflation </a:t>
            </a:r>
            <a:r>
              <a:rPr lang="da-DK" dirty="0" err="1"/>
              <a:t>change</a:t>
            </a:r>
            <a:r>
              <a:rPr lang="da-DK" dirty="0"/>
              <a:t> from t-1 -&gt; t</a:t>
            </a:r>
          </a:p>
          <a:p>
            <a:pPr lvl="1"/>
            <a:r>
              <a:rPr lang="da-DK" dirty="0"/>
              <a:t>Oil return 12 </a:t>
            </a:r>
            <a:r>
              <a:rPr lang="da-DK" dirty="0" err="1"/>
              <a:t>month</a:t>
            </a:r>
            <a:r>
              <a:rPr lang="da-DK" dirty="0"/>
              <a:t> rolling standard deviation.</a:t>
            </a:r>
          </a:p>
          <a:p>
            <a:pPr lvl="1"/>
            <a:r>
              <a:rPr lang="da-DK" dirty="0"/>
              <a:t>SP500 3, 6, and 12 </a:t>
            </a:r>
            <a:r>
              <a:rPr lang="da-DK" dirty="0" err="1"/>
              <a:t>month</a:t>
            </a:r>
            <a:r>
              <a:rPr lang="da-DK" dirty="0"/>
              <a:t> </a:t>
            </a:r>
            <a:r>
              <a:rPr lang="da-DK" dirty="0" err="1"/>
              <a:t>price</a:t>
            </a:r>
            <a:r>
              <a:rPr lang="da-DK" dirty="0"/>
              <a:t> momentum</a:t>
            </a:r>
          </a:p>
          <a:p>
            <a:pPr lvl="1"/>
            <a:r>
              <a:rPr lang="da-DK" dirty="0"/>
              <a:t>SP500 3 and 6 </a:t>
            </a:r>
            <a:r>
              <a:rPr lang="da-DK" dirty="0" err="1"/>
              <a:t>month</a:t>
            </a:r>
            <a:r>
              <a:rPr lang="da-DK" dirty="0"/>
              <a:t> </a:t>
            </a:r>
            <a:r>
              <a:rPr lang="da-DK" dirty="0" err="1"/>
              <a:t>volatility</a:t>
            </a:r>
            <a:endParaRPr lang="da-DK" dirty="0"/>
          </a:p>
          <a:p>
            <a:pPr lvl="1"/>
            <a:r>
              <a:rPr lang="da-DK" dirty="0"/>
              <a:t>Credit </a:t>
            </a:r>
            <a:r>
              <a:rPr lang="da-DK" dirty="0" err="1"/>
              <a:t>spread</a:t>
            </a:r>
            <a:r>
              <a:rPr lang="da-DK" dirty="0"/>
              <a:t>, </a:t>
            </a:r>
            <a:r>
              <a:rPr lang="en-US" dirty="0"/>
              <a:t>diff in high-yield and investment bond prices</a:t>
            </a:r>
          </a:p>
          <a:p>
            <a:pPr lvl="1"/>
            <a:r>
              <a:rPr lang="en-US" dirty="0"/>
              <a:t>Month-over-month change in credit spread</a:t>
            </a:r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E3BDEFB-178C-CD3A-FBC7-B8008CE9F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8F943848-5864-ABFC-3E8C-D2CBC32C7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1564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DDAB3C-5B64-DA92-3B44-F181280DE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Assets for </a:t>
            </a:r>
            <a:r>
              <a:rPr lang="da-DK" dirty="0" err="1"/>
              <a:t>different</a:t>
            </a:r>
            <a:r>
              <a:rPr lang="da-DK" dirty="0"/>
              <a:t> regimes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1A37C90-13EB-5416-BFA1-20A123291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5C33423A-14F3-EAE5-2B98-287D03D29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4</a:t>
            </a:fld>
            <a:endParaRPr lang="da-DK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81469FC3-27D6-A8D9-D530-ACBC5FDDE78C}"/>
              </a:ext>
            </a:extLst>
          </p:cNvPr>
          <p:cNvSpPr txBox="1"/>
          <p:nvPr/>
        </p:nvSpPr>
        <p:spPr>
          <a:xfrm>
            <a:off x="3048712" y="3246470"/>
            <a:ext cx="609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a-DK" dirty="0"/>
          </a:p>
        </p:txBody>
      </p:sp>
      <p:sp>
        <p:nvSpPr>
          <p:cNvPr id="13" name="Pladsholder til indhold 12">
            <a:extLst>
              <a:ext uri="{FF2B5EF4-FFF2-40B4-BE49-F238E27FC236}">
                <a16:creationId xmlns:a16="http://schemas.microsoft.com/office/drawing/2014/main" id="{11590E9F-0AB1-A589-4C44-AFD5CF1C0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919" y="1724790"/>
            <a:ext cx="5316802" cy="2381748"/>
          </a:xfrm>
        </p:spPr>
        <p:txBody>
          <a:bodyPr/>
          <a:lstStyle/>
          <a:p>
            <a:r>
              <a:rPr lang="da-DK" dirty="0"/>
              <a:t>Equity assets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seems</a:t>
            </a:r>
            <a:r>
              <a:rPr lang="da-DK" dirty="0"/>
              <a:t> </a:t>
            </a:r>
            <a:r>
              <a:rPr lang="da-DK" dirty="0" err="1"/>
              <a:t>strongly</a:t>
            </a:r>
            <a:br>
              <a:rPr lang="da-DK" dirty="0"/>
            </a:br>
            <a:r>
              <a:rPr lang="da-DK" dirty="0" err="1"/>
              <a:t>positivetly</a:t>
            </a:r>
            <a:r>
              <a:rPr lang="da-DK" dirty="0"/>
              <a:t> </a:t>
            </a:r>
            <a:r>
              <a:rPr lang="da-DK" dirty="0" err="1"/>
              <a:t>correlatet</a:t>
            </a:r>
            <a:endParaRPr lang="da-DK" dirty="0"/>
          </a:p>
          <a:p>
            <a:r>
              <a:rPr lang="da-DK" dirty="0"/>
              <a:t>Switch </a:t>
            </a:r>
            <a:r>
              <a:rPr lang="da-DK" dirty="0" err="1"/>
              <a:t>into</a:t>
            </a:r>
            <a:r>
              <a:rPr lang="da-DK" dirty="0"/>
              <a:t> gold, in </a:t>
            </a:r>
            <a:r>
              <a:rPr lang="da-DK" dirty="0" err="1"/>
              <a:t>uncertainty</a:t>
            </a:r>
            <a:r>
              <a:rPr lang="da-DK" dirty="0"/>
              <a:t> </a:t>
            </a:r>
          </a:p>
          <a:p>
            <a:endParaRPr lang="da-DK" dirty="0"/>
          </a:p>
          <a:p>
            <a:endParaRPr lang="da-DK" dirty="0"/>
          </a:p>
        </p:txBody>
      </p:sp>
      <p:sp>
        <p:nvSpPr>
          <p:cNvPr id="15" name="Tekstfelt 14">
            <a:extLst>
              <a:ext uri="{FF2B5EF4-FFF2-40B4-BE49-F238E27FC236}">
                <a16:creationId xmlns:a16="http://schemas.microsoft.com/office/drawing/2014/main" id="{15AC3762-67A3-EAE9-18F2-7868CA9064EE}"/>
              </a:ext>
            </a:extLst>
          </p:cNvPr>
          <p:cNvSpPr txBox="1"/>
          <p:nvPr/>
        </p:nvSpPr>
        <p:spPr>
          <a:xfrm>
            <a:off x="3048712" y="3246470"/>
            <a:ext cx="609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a-DK" dirty="0"/>
          </a:p>
        </p:txBody>
      </p:sp>
      <p:pic>
        <p:nvPicPr>
          <p:cNvPr id="19" name="Billede 18">
            <a:extLst>
              <a:ext uri="{FF2B5EF4-FFF2-40B4-BE49-F238E27FC236}">
                <a16:creationId xmlns:a16="http://schemas.microsoft.com/office/drawing/2014/main" id="{085F4913-EE36-D1D3-DB9E-B8D089B12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8404" y="1158352"/>
            <a:ext cx="6648450" cy="491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669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40D4B1-9972-1158-F107-B69784579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Transition </a:t>
            </a:r>
            <a:r>
              <a:rPr lang="da-DK" dirty="0" err="1"/>
              <a:t>probablities</a:t>
            </a:r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B5063E9-9E59-B2F4-6004-F4DE7C295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69661C18-A3C1-E9FF-04BE-1AFE2485F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5</a:t>
            </a:fld>
            <a:endParaRPr lang="da-DK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72EE4E1D-F369-C103-B6EB-491FC1971CA4}"/>
              </a:ext>
            </a:extLst>
          </p:cNvPr>
          <p:cNvSpPr txBox="1"/>
          <p:nvPr/>
        </p:nvSpPr>
        <p:spPr>
          <a:xfrm>
            <a:off x="775530" y="2198777"/>
            <a:ext cx="34717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/>
              <a:t>Transition </a:t>
            </a:r>
            <a:r>
              <a:rPr lang="da-DK" dirty="0" err="1"/>
              <a:t>probablities</a:t>
            </a:r>
            <a:endParaRPr lang="da-DK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a-DK" dirty="0"/>
              <a:t>Tells </a:t>
            </a:r>
            <a:r>
              <a:rPr lang="da-DK" dirty="0" err="1"/>
              <a:t>us</a:t>
            </a:r>
            <a:r>
              <a:rPr lang="da-DK" dirty="0"/>
              <a:t> </a:t>
            </a:r>
            <a:r>
              <a:rPr lang="da-DK" dirty="0" err="1"/>
              <a:t>alot</a:t>
            </a:r>
            <a:r>
              <a:rPr lang="da-DK" dirty="0"/>
              <a:t> </a:t>
            </a:r>
            <a:r>
              <a:rPr lang="da-DK" dirty="0" err="1"/>
              <a:t>about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to </a:t>
            </a:r>
            <a:r>
              <a:rPr lang="da-DK" dirty="0" err="1"/>
              <a:t>which</a:t>
            </a:r>
            <a:r>
              <a:rPr lang="da-DK" dirty="0"/>
              <a:t> assets to </a:t>
            </a:r>
            <a:r>
              <a:rPr lang="da-DK" dirty="0" err="1"/>
              <a:t>allocate</a:t>
            </a:r>
            <a:r>
              <a:rPr lang="da-DK" dirty="0"/>
              <a:t> </a:t>
            </a:r>
            <a:r>
              <a:rPr lang="da-DK" dirty="0" err="1"/>
              <a:t>liqiudity</a:t>
            </a:r>
            <a:r>
              <a:rPr lang="da-DK" dirty="0"/>
              <a:t>.</a:t>
            </a:r>
          </a:p>
        </p:txBody>
      </p:sp>
      <p:sp>
        <p:nvSpPr>
          <p:cNvPr id="11" name="Pladsholder til indhold 10">
            <a:extLst>
              <a:ext uri="{FF2B5EF4-FFF2-40B4-BE49-F238E27FC236}">
                <a16:creationId xmlns:a16="http://schemas.microsoft.com/office/drawing/2014/main" id="{9E3A9974-AB50-3445-88BB-4755752A9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769" y="5713665"/>
            <a:ext cx="11012488" cy="4673600"/>
          </a:xfrm>
        </p:spPr>
        <p:txBody>
          <a:bodyPr/>
          <a:lstStyle/>
          <a:p>
            <a:endParaRPr lang="da-DK" dirty="0"/>
          </a:p>
        </p:txBody>
      </p:sp>
      <p:pic>
        <p:nvPicPr>
          <p:cNvPr id="13" name="Billede 12">
            <a:extLst>
              <a:ext uri="{FF2B5EF4-FFF2-40B4-BE49-F238E27FC236}">
                <a16:creationId xmlns:a16="http://schemas.microsoft.com/office/drawing/2014/main" id="{F5B804DB-0AFA-4AE5-7008-774DE69CA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4599" y="1859377"/>
            <a:ext cx="4572000" cy="3724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015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6275E3-D639-764D-3FB9-8D4FDD29E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Trading </a:t>
            </a:r>
            <a:r>
              <a:rPr lang="da-DK" dirty="0" err="1"/>
              <a:t>strategy</a:t>
            </a:r>
            <a:r>
              <a:rPr lang="da-DK" dirty="0"/>
              <a:t> and </a:t>
            </a:r>
            <a:r>
              <a:rPr lang="da-DK" dirty="0" err="1"/>
              <a:t>backtesting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C49E5C0-1957-422C-B54A-2768E395F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In sample </a:t>
            </a:r>
            <a:r>
              <a:rPr lang="da-DK" dirty="0" err="1"/>
              <a:t>backtesting</a:t>
            </a:r>
            <a:r>
              <a:rPr lang="da-DK" dirty="0"/>
              <a:t> from, 2009-2026</a:t>
            </a:r>
          </a:p>
          <a:p>
            <a:r>
              <a:rPr lang="da-DK" dirty="0" err="1"/>
              <a:t>Use</a:t>
            </a:r>
            <a:r>
              <a:rPr lang="da-DK" dirty="0"/>
              <a:t> all data up till time = t-1 to cluster data in </a:t>
            </a:r>
            <a:r>
              <a:rPr lang="da-DK" dirty="0" err="1"/>
              <a:t>each</a:t>
            </a:r>
            <a:r>
              <a:rPr lang="da-DK" dirty="0"/>
              <a:t> regime</a:t>
            </a:r>
          </a:p>
          <a:p>
            <a:r>
              <a:rPr lang="da-DK" dirty="0"/>
              <a:t>For </a:t>
            </a:r>
            <a:r>
              <a:rPr lang="da-DK" dirty="0" err="1"/>
              <a:t>each</a:t>
            </a:r>
            <a:r>
              <a:rPr lang="da-DK" dirty="0"/>
              <a:t> regime </a:t>
            </a:r>
            <a:r>
              <a:rPr lang="da-DK" dirty="0" err="1"/>
              <a:t>calculate</a:t>
            </a:r>
            <a:r>
              <a:rPr lang="da-DK" dirty="0"/>
              <a:t> </a:t>
            </a:r>
            <a:r>
              <a:rPr lang="da-DK" dirty="0" err="1"/>
              <a:t>markowitz</a:t>
            </a:r>
            <a:r>
              <a:rPr lang="da-DK" dirty="0"/>
              <a:t> </a:t>
            </a:r>
            <a:r>
              <a:rPr lang="da-DK" dirty="0" err="1"/>
              <a:t>weights</a:t>
            </a:r>
            <a:r>
              <a:rPr lang="da-DK" dirty="0"/>
              <a:t>.</a:t>
            </a:r>
          </a:p>
          <a:p>
            <a:r>
              <a:rPr lang="da-DK" dirty="0"/>
              <a:t>For observation t, </a:t>
            </a:r>
            <a:r>
              <a:rPr lang="da-DK" dirty="0" err="1"/>
              <a:t>calculate</a:t>
            </a:r>
            <a:r>
              <a:rPr lang="da-DK" dirty="0"/>
              <a:t> distance to nearest cluster, with KNN find </a:t>
            </a:r>
            <a:br>
              <a:rPr lang="da-DK" dirty="0"/>
            </a:br>
            <a:r>
              <a:rPr lang="da-DK" dirty="0" err="1"/>
              <a:t>similar</a:t>
            </a:r>
            <a:r>
              <a:rPr lang="da-DK" dirty="0"/>
              <a:t> situations and look at </a:t>
            </a:r>
            <a:r>
              <a:rPr lang="da-DK" dirty="0" err="1"/>
              <a:t>those</a:t>
            </a:r>
            <a:r>
              <a:rPr lang="da-DK" dirty="0"/>
              <a:t> </a:t>
            </a:r>
            <a:r>
              <a:rPr lang="da-DK" dirty="0" err="1"/>
              <a:t>outcomes</a:t>
            </a:r>
            <a:r>
              <a:rPr lang="da-DK" dirty="0"/>
              <a:t>, </a:t>
            </a:r>
            <a:r>
              <a:rPr lang="da-DK" dirty="0" err="1"/>
              <a:t>what</a:t>
            </a:r>
            <a:r>
              <a:rPr lang="da-DK" dirty="0"/>
              <a:t> is </a:t>
            </a:r>
            <a:r>
              <a:rPr lang="da-DK" dirty="0" err="1"/>
              <a:t>our</a:t>
            </a:r>
            <a:r>
              <a:rPr lang="da-DK" dirty="0"/>
              <a:t> transition matrix.</a:t>
            </a:r>
          </a:p>
          <a:p>
            <a:r>
              <a:rPr lang="da-DK" dirty="0"/>
              <a:t>Bland </a:t>
            </a:r>
            <a:r>
              <a:rPr lang="da-DK" dirty="0" err="1"/>
              <a:t>weights</a:t>
            </a:r>
            <a:r>
              <a:rPr lang="da-DK" dirty="0"/>
              <a:t> so </a:t>
            </a:r>
            <a:r>
              <a:rPr lang="da-DK" dirty="0" err="1"/>
              <a:t>if</a:t>
            </a:r>
            <a:r>
              <a:rPr lang="da-DK" dirty="0"/>
              <a:t> </a:t>
            </a:r>
            <a:r>
              <a:rPr lang="da-DK" dirty="0" err="1"/>
              <a:t>they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weighted</a:t>
            </a:r>
            <a:r>
              <a:rPr lang="da-DK" dirty="0"/>
              <a:t> by </a:t>
            </a:r>
            <a:r>
              <a:rPr lang="da-DK" dirty="0" err="1"/>
              <a:t>probability</a:t>
            </a:r>
            <a:r>
              <a:rPr lang="da-DK" dirty="0"/>
              <a:t> of </a:t>
            </a:r>
            <a:r>
              <a:rPr lang="da-DK" dirty="0" err="1"/>
              <a:t>which</a:t>
            </a:r>
            <a:r>
              <a:rPr lang="da-DK" dirty="0"/>
              <a:t> regime the </a:t>
            </a:r>
            <a:r>
              <a:rPr lang="da-DK" dirty="0" err="1"/>
              <a:t>next</a:t>
            </a:r>
            <a:r>
              <a:rPr lang="da-DK" dirty="0"/>
              <a:t> </a:t>
            </a:r>
            <a:r>
              <a:rPr lang="da-DK" dirty="0" err="1"/>
              <a:t>one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.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4797E31-D6DF-ADB2-02CE-122BA1B60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C0950B4F-C9D9-9165-AC3D-429D4AF0C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42475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CAAB9C-C330-6C49-FD7D-814C3B6F2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Full model diagram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5E8E1F1B-FD7E-A255-2F65-3BC7317E4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19B5402E-2EF9-FD5D-38CA-8BE04CA79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7</a:t>
            </a:fld>
            <a:endParaRPr lang="da-DK" dirty="0"/>
          </a:p>
        </p:txBody>
      </p:sp>
      <p:pic>
        <p:nvPicPr>
          <p:cNvPr id="10" name="Pladsholder til indhold 9">
            <a:extLst>
              <a:ext uri="{FF2B5EF4-FFF2-40B4-BE49-F238E27FC236}">
                <a16:creationId xmlns:a16="http://schemas.microsoft.com/office/drawing/2014/main" id="{D81B4F7D-FDE7-D137-A201-BD38585BC7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5805" y="1563686"/>
            <a:ext cx="10635496" cy="467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2795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B18EA-3784-0640-C3CF-4C1F5D758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From transition </a:t>
            </a:r>
            <a:r>
              <a:rPr lang="da-DK" dirty="0" err="1"/>
              <a:t>probablity</a:t>
            </a:r>
            <a:r>
              <a:rPr lang="da-DK" dirty="0"/>
              <a:t> and </a:t>
            </a:r>
            <a:r>
              <a:rPr lang="da-DK" dirty="0" err="1"/>
              <a:t>weight</a:t>
            </a:r>
            <a:r>
              <a:rPr lang="da-DK" dirty="0"/>
              <a:t> to </a:t>
            </a:r>
            <a:r>
              <a:rPr lang="da-DK" dirty="0" err="1"/>
              <a:t>portfolio</a:t>
            </a:r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8A5C2B7-2BF2-9F75-D318-9A2307ED4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FEC32D37-0DEF-1E30-2BB9-9F2CEDE3A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8</a:t>
            </a:fld>
            <a:endParaRPr lang="da-DK" dirty="0"/>
          </a:p>
        </p:txBody>
      </p:sp>
      <p:sp>
        <p:nvSpPr>
          <p:cNvPr id="15" name="Tekstfelt 14">
            <a:extLst>
              <a:ext uri="{FF2B5EF4-FFF2-40B4-BE49-F238E27FC236}">
                <a16:creationId xmlns:a16="http://schemas.microsoft.com/office/drawing/2014/main" id="{5C7E8502-8ACC-9AEB-D21D-C3A909650686}"/>
              </a:ext>
            </a:extLst>
          </p:cNvPr>
          <p:cNvSpPr txBox="1"/>
          <p:nvPr/>
        </p:nvSpPr>
        <p:spPr>
          <a:xfrm flipH="1">
            <a:off x="414253" y="1484313"/>
            <a:ext cx="5341058" cy="221599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da-DK" sz="2400" dirty="0"/>
              <a:t>From </a:t>
            </a:r>
            <a:r>
              <a:rPr lang="da-DK" sz="2400" dirty="0" err="1"/>
              <a:t>table</a:t>
            </a:r>
            <a:r>
              <a:rPr lang="da-DK" sz="2400" dirty="0"/>
              <a:t> 2 </a:t>
            </a:r>
            <a:r>
              <a:rPr lang="da-DK" sz="2400" dirty="0" err="1"/>
              <a:t>multiply</a:t>
            </a:r>
            <a:r>
              <a:rPr lang="da-DK" sz="2400" dirty="0"/>
              <a:t> asset 1 </a:t>
            </a:r>
            <a:r>
              <a:rPr lang="da-DK" sz="2400" dirty="0" err="1"/>
              <a:t>weight</a:t>
            </a:r>
            <a:r>
              <a:rPr lang="da-DK" sz="2400" dirty="0"/>
              <a:t> in regime 1 by </a:t>
            </a:r>
            <a:r>
              <a:rPr lang="da-DK" sz="2400" dirty="0" err="1"/>
              <a:t>table</a:t>
            </a:r>
            <a:r>
              <a:rPr lang="da-DK" sz="2400" dirty="0"/>
              <a:t> 2 transition </a:t>
            </a:r>
            <a:r>
              <a:rPr lang="da-DK" sz="2400" dirty="0" err="1"/>
              <a:t>probablity</a:t>
            </a:r>
            <a:r>
              <a:rPr lang="da-DK" sz="2400" dirty="0"/>
              <a:t> in regime 1 in </a:t>
            </a:r>
            <a:r>
              <a:rPr lang="da-DK" sz="2400" dirty="0" err="1"/>
              <a:t>this</a:t>
            </a:r>
            <a:r>
              <a:rPr lang="da-DK" sz="2400" dirty="0"/>
              <a:t> </a:t>
            </a:r>
            <a:r>
              <a:rPr lang="da-DK" sz="2400" dirty="0" err="1"/>
              <a:t>example</a:t>
            </a:r>
            <a:r>
              <a:rPr lang="da-DK" sz="2400" dirty="0"/>
              <a:t> 0.1*0.2=0.02,</a:t>
            </a:r>
          </a:p>
          <a:p>
            <a:pPr marL="342900" marR="0" indent="-34290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da-DK" sz="2400" b="0" dirty="0">
                <a:solidFill>
                  <a:schemeClr val="tx1"/>
                </a:solidFill>
                <a:latin typeface="+mn-lt"/>
              </a:rPr>
              <a:t>Asset 1 </a:t>
            </a:r>
            <a:r>
              <a:rPr lang="da-DK" sz="2400" b="0" dirty="0" err="1">
                <a:solidFill>
                  <a:schemeClr val="tx1"/>
                </a:solidFill>
                <a:latin typeface="+mn-lt"/>
              </a:rPr>
              <a:t>will</a:t>
            </a:r>
            <a:r>
              <a:rPr lang="da-DK" sz="2400" b="0" dirty="0">
                <a:solidFill>
                  <a:schemeClr val="tx1"/>
                </a:solidFill>
                <a:latin typeface="+mn-lt"/>
              </a:rPr>
              <a:t> </a:t>
            </a:r>
            <a:r>
              <a:rPr lang="da-DK" sz="2400" b="0" dirty="0" err="1">
                <a:solidFill>
                  <a:schemeClr val="tx1"/>
                </a:solidFill>
                <a:latin typeface="+mn-lt"/>
              </a:rPr>
              <a:t>be</a:t>
            </a:r>
            <a:r>
              <a:rPr lang="da-DK" sz="2400" b="0" dirty="0">
                <a:solidFill>
                  <a:schemeClr val="tx1"/>
                </a:solidFill>
                <a:latin typeface="+mn-lt"/>
              </a:rPr>
              <a:t> </a:t>
            </a:r>
            <a:r>
              <a:rPr lang="da-DK" sz="2400" b="0" dirty="0" err="1">
                <a:solidFill>
                  <a:schemeClr val="tx1"/>
                </a:solidFill>
                <a:latin typeface="+mn-lt"/>
              </a:rPr>
              <a:t>allocated</a:t>
            </a:r>
            <a:r>
              <a:rPr lang="da-DK" sz="2400" b="0" dirty="0">
                <a:solidFill>
                  <a:schemeClr val="tx1"/>
                </a:solidFill>
                <a:latin typeface="+mn-lt"/>
              </a:rPr>
              <a:t> 2 procent in </a:t>
            </a:r>
            <a:r>
              <a:rPr lang="da-DK" sz="2400" b="0" dirty="0" err="1">
                <a:solidFill>
                  <a:schemeClr val="tx1"/>
                </a:solidFill>
                <a:latin typeface="+mn-lt"/>
              </a:rPr>
              <a:t>this</a:t>
            </a:r>
            <a:r>
              <a:rPr lang="da-DK" sz="2400" b="0" dirty="0">
                <a:solidFill>
                  <a:schemeClr val="tx1"/>
                </a:solidFill>
                <a:latin typeface="+mn-lt"/>
              </a:rPr>
              <a:t> scenario</a:t>
            </a:r>
          </a:p>
        </p:txBody>
      </p:sp>
      <p:pic>
        <p:nvPicPr>
          <p:cNvPr id="19" name="Billede 18">
            <a:extLst>
              <a:ext uri="{FF2B5EF4-FFF2-40B4-BE49-F238E27FC236}">
                <a16:creationId xmlns:a16="http://schemas.microsoft.com/office/drawing/2014/main" id="{8C47CFBA-B957-270F-D753-662D5A83DB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29" y="3771857"/>
            <a:ext cx="7515225" cy="2552700"/>
          </a:xfrm>
          <a:prstGeom prst="rect">
            <a:avLst/>
          </a:prstGeom>
        </p:spPr>
      </p:pic>
      <p:sp>
        <p:nvSpPr>
          <p:cNvPr id="21" name="Pladsholder til indhold 20">
            <a:extLst>
              <a:ext uri="{FF2B5EF4-FFF2-40B4-BE49-F238E27FC236}">
                <a16:creationId xmlns:a16="http://schemas.microsoft.com/office/drawing/2014/main" id="{DEB715BC-3DC3-28B7-9A3E-96FC85DC23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7203" y="6995974"/>
            <a:ext cx="11012488" cy="4673600"/>
          </a:xfrm>
        </p:spPr>
        <p:txBody>
          <a:bodyPr/>
          <a:lstStyle/>
          <a:p>
            <a:endParaRPr lang="da-DK" dirty="0"/>
          </a:p>
        </p:txBody>
      </p:sp>
      <p:pic>
        <p:nvPicPr>
          <p:cNvPr id="23" name="Billede 22">
            <a:extLst>
              <a:ext uri="{FF2B5EF4-FFF2-40B4-BE49-F238E27FC236}">
                <a16:creationId xmlns:a16="http://schemas.microsoft.com/office/drawing/2014/main" id="{C37956F4-95C1-5583-3503-CEBD537B70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371" y="1052513"/>
            <a:ext cx="5172075" cy="239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408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51E42B-ADCE-C4DD-BDF6-12AD47031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K-Means 1/2 </a:t>
            </a:r>
          </a:p>
        </p:txBody>
      </p:sp>
      <p:pic>
        <p:nvPicPr>
          <p:cNvPr id="7" name="Pladsholder til indhold 6">
            <a:extLst>
              <a:ext uri="{FF2B5EF4-FFF2-40B4-BE49-F238E27FC236}">
                <a16:creationId xmlns:a16="http://schemas.microsoft.com/office/drawing/2014/main" id="{F63410F5-6CF2-3C1E-A187-42FC4FE2AD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304" y="2068082"/>
            <a:ext cx="5818576" cy="3751952"/>
          </a:xfrm>
          <a:prstGeom prst="rect">
            <a:avLst/>
          </a:prstGeo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D997EAF-988D-EF49-9CF7-7F2B6FE4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B6EB07DD-93DC-B6F8-3848-F4860123C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9</a:t>
            </a:fld>
            <a:endParaRPr lang="da-DK" dirty="0"/>
          </a:p>
        </p:txBody>
      </p:sp>
      <p:pic>
        <p:nvPicPr>
          <p:cNvPr id="9" name="Billede 8">
            <a:extLst>
              <a:ext uri="{FF2B5EF4-FFF2-40B4-BE49-F238E27FC236}">
                <a16:creationId xmlns:a16="http://schemas.microsoft.com/office/drawing/2014/main" id="{BD820F50-5ECF-2785-0806-8DF0B9B4E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8524" y="1842485"/>
            <a:ext cx="6015616" cy="3902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86468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44D44C-B657-0351-D836-DCD28BEE1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Kmeans</a:t>
            </a:r>
            <a:r>
              <a:rPr lang="da-DK" dirty="0"/>
              <a:t> 2/2</a:t>
            </a:r>
          </a:p>
        </p:txBody>
      </p:sp>
      <p:pic>
        <p:nvPicPr>
          <p:cNvPr id="7" name="Pladsholder til indhold 6">
            <a:extLst>
              <a:ext uri="{FF2B5EF4-FFF2-40B4-BE49-F238E27FC236}">
                <a16:creationId xmlns:a16="http://schemas.microsoft.com/office/drawing/2014/main" id="{BD65AD3C-B94E-1428-EA57-08E65485A7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34496" y="1626752"/>
            <a:ext cx="7009591" cy="4610534"/>
          </a:xfrm>
          <a:prstGeom prst="rect">
            <a:avLst/>
          </a:prstGeo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C0E5C16-2978-C100-38C7-6DC88F3F5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0BE17EB4-1088-CEAD-5322-0261AE2A2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10</a:t>
            </a:fld>
            <a:endParaRPr lang="da-DK" dirty="0"/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2020A43D-B769-26F2-99DF-69BE5BD6AC82}"/>
              </a:ext>
            </a:extLst>
          </p:cNvPr>
          <p:cNvSpPr txBox="1"/>
          <p:nvPr/>
        </p:nvSpPr>
        <p:spPr>
          <a:xfrm>
            <a:off x="588963" y="2050990"/>
            <a:ext cx="3114635" cy="738664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dirty="0" err="1"/>
              <a:t>Captures</a:t>
            </a:r>
            <a:r>
              <a:rPr lang="da-DK" sz="2400" dirty="0"/>
              <a:t> regimes </a:t>
            </a:r>
            <a:r>
              <a:rPr lang="da-DK" sz="2400" dirty="0" err="1"/>
              <a:t>fairly</a:t>
            </a:r>
            <a:endParaRPr lang="da-DK" sz="2400" dirty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0" dirty="0" err="1">
                <a:solidFill>
                  <a:schemeClr val="tx1"/>
                </a:solidFill>
                <a:latin typeface="+mn-lt"/>
              </a:rPr>
              <a:t>well</a:t>
            </a:r>
            <a:endParaRPr lang="da-DK" sz="2400" b="0" dirty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75911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B4BB56-3248-0E5D-CFE5-3B2E9C728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Results</a:t>
            </a:r>
            <a:r>
              <a:rPr lang="da-DK" dirty="0"/>
              <a:t> 1/2</a:t>
            </a:r>
          </a:p>
        </p:txBody>
      </p:sp>
      <p:pic>
        <p:nvPicPr>
          <p:cNvPr id="7" name="Pladsholder til indhold 6">
            <a:extLst>
              <a:ext uri="{FF2B5EF4-FFF2-40B4-BE49-F238E27FC236}">
                <a16:creationId xmlns:a16="http://schemas.microsoft.com/office/drawing/2014/main" id="{6684F02A-81A1-67BB-23E8-F02BBBC485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387" y="1245030"/>
            <a:ext cx="11012487" cy="2443670"/>
          </a:xfrm>
          <a:prstGeom prst="rect">
            <a:avLst/>
          </a:prstGeo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25BB8457-63DF-8623-0BD4-89BC1AFE5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63210C95-CAF8-A6F6-8EB5-F4E6515E5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11</a:t>
            </a:fld>
            <a:endParaRPr lang="da-DK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7F0D2B07-6808-3402-FC0A-714D9F3427B3}"/>
              </a:ext>
            </a:extLst>
          </p:cNvPr>
          <p:cNvSpPr txBox="1"/>
          <p:nvPr/>
        </p:nvSpPr>
        <p:spPr>
          <a:xfrm>
            <a:off x="3048712" y="3246470"/>
            <a:ext cx="609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a-DK" dirty="0"/>
          </a:p>
        </p:txBody>
      </p:sp>
      <p:pic>
        <p:nvPicPr>
          <p:cNvPr id="11" name="Billede 10">
            <a:extLst>
              <a:ext uri="{FF2B5EF4-FFF2-40B4-BE49-F238E27FC236}">
                <a16:creationId xmlns:a16="http://schemas.microsoft.com/office/drawing/2014/main" id="{F3F2ECDD-CBB2-B57B-C272-2A71B688D8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48" y="4054108"/>
            <a:ext cx="11012487" cy="263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710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B67C44-B3D6-6C36-9DA0-DAB731BE9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Results</a:t>
            </a:r>
            <a:r>
              <a:rPr lang="da-DK" dirty="0"/>
              <a:t> 2/2</a:t>
            </a:r>
          </a:p>
        </p:txBody>
      </p:sp>
      <p:pic>
        <p:nvPicPr>
          <p:cNvPr id="7" name="Pladsholder til indhold 6">
            <a:extLst>
              <a:ext uri="{FF2B5EF4-FFF2-40B4-BE49-F238E27FC236}">
                <a16:creationId xmlns:a16="http://schemas.microsoft.com/office/drawing/2014/main" id="{0DF1FDA6-756A-BF6E-C5FE-F5F80B9130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8963" y="2120937"/>
            <a:ext cx="11012487" cy="3689275"/>
          </a:xfrm>
          <a:prstGeom prst="rect">
            <a:avLst/>
          </a:prstGeo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05297C1-B46F-75BD-C23A-FD235CFB1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25-04-2026</a:t>
            </a:fld>
            <a:endParaRPr lang="da-DK" dirty="0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50E40463-E193-44C8-CEDC-F122CC8A7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12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92317647"/>
      </p:ext>
    </p:extLst>
  </p:cSld>
  <p:clrMapOvr>
    <a:masterClrMapping/>
  </p:clrMapOvr>
</p:sld>
</file>

<file path=ppt/theme/theme1.xml><?xml version="1.0" encoding="utf-8"?>
<a:theme xmlns:a="http://schemas.openxmlformats.org/drawingml/2006/main" name="Brugerdefineret design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øbenhavns Universitet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>
          <a:solidFill>
            <a:schemeClr val="accent1"/>
          </a:solidFill>
        </a:ln>
      </a:spPr>
      <a:bodyPr wrap="square" rtlCol="0" anchor="ctr">
        <a:noAutofit/>
      </a:bodyPr>
      <a:lstStyle>
        <a:defPPr algn="l">
          <a:defRPr sz="2400" dirty="0" err="1" smtClean="0">
            <a:solidFill>
              <a:schemeClr val="bg1"/>
            </a:solidFill>
          </a:defRPr>
        </a:defPPr>
      </a:lstStyle>
    </a:spDef>
    <a:txDef>
      <a:spPr/>
      <a:bodyPr vert="horz" wrap="square" lIns="0" tIns="0" rIns="0" bIns="0" rtlCol="0" anchor="t" anchorCtr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Bef>
            <a:spcPct val="0"/>
          </a:spcBef>
          <a:spcAft>
            <a:spcPts val="0"/>
          </a:spcAft>
          <a:buClrTx/>
          <a:buSzTx/>
          <a:buFontTx/>
          <a:buNone/>
          <a:tabLst/>
          <a:defRPr sz="2400" b="0" dirty="0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16x9_DK_fuld.potx" id="{EB608739-D490-442D-AE39-76A4F2C80253}" vid="{F6657886-CEF1-49A4-9FC9-A572A9EA0F45}"/>
    </a:ext>
  </a:extLst>
</a:theme>
</file>

<file path=ppt/theme/theme2.xml><?xml version="1.0" encoding="utf-8"?>
<a:theme xmlns:a="http://schemas.openxmlformats.org/drawingml/2006/main" name="Office Theme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ema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16x9_DK_fuld (1)</Template>
  <TotalTime>737</TotalTime>
  <Words>283</Words>
  <Application>Microsoft Office PowerPoint</Application>
  <PresentationFormat>Widescreen</PresentationFormat>
  <Paragraphs>70</Paragraphs>
  <Slides>12</Slides>
  <Notes>2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12</vt:i4>
      </vt:variant>
    </vt:vector>
  </HeadingPairs>
  <TitlesOfParts>
    <vt:vector size="16" baseType="lpstr">
      <vt:lpstr>Arial</vt:lpstr>
      <vt:lpstr>Microsoft New Tai Lue</vt:lpstr>
      <vt:lpstr>Wingdings</vt:lpstr>
      <vt:lpstr>Brugerdefineret design</vt:lpstr>
      <vt:lpstr>PowerPoint-præsentation</vt:lpstr>
      <vt:lpstr>Introduction</vt:lpstr>
      <vt:lpstr>Data</vt:lpstr>
      <vt:lpstr>Assets for different regimes</vt:lpstr>
      <vt:lpstr>Transition probablities</vt:lpstr>
      <vt:lpstr>Trading strategy and backtesting</vt:lpstr>
      <vt:lpstr>Full model diagram</vt:lpstr>
      <vt:lpstr>From transition probablity and weight to portfolio</vt:lpstr>
      <vt:lpstr>K-Means 1/2 </vt:lpstr>
      <vt:lpstr>Kmeans 2/2</vt:lpstr>
      <vt:lpstr>Results 1/2</vt:lpstr>
      <vt:lpstr>Results 2/2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Broman</dc:creator>
  <cp:lastModifiedBy>Jacob Broman</cp:lastModifiedBy>
  <cp:revision>5</cp:revision>
  <dcterms:created xsi:type="dcterms:W3CDTF">2026-04-21T12:40:18Z</dcterms:created>
  <dcterms:modified xsi:type="dcterms:W3CDTF">2026-04-25T16:12:01Z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:">
    <vt:lpwstr>www.omnidocs.com</vt:lpwstr>
  </property>
</Properties>
</file>